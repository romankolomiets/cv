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909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8321040" cy="4315968"/>
          </a:xfrm>
          <a:prstGeom prst="rect">
            <a:avLst/>
          </a:prstGeom>
          <a:solidFill>
            <a:srgbClr val="2E3429"/>
          </a:solidFill>
          <a:ln w="15240">
            <a:solidFill>
              <a:srgbClr val="B08D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51560"/>
            <a:ext cx="7498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КОЛОМІЄЦЬ РОМАН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kern="0" spc="400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ОЛЕГОВИЧ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· UX/UI · Візуальні комунікації · Дата-аналітика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E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Резюме · </a:t>
            </a:r>
            <a:r>
              <a:rPr lang="ru-UA" sz="1600" i="1" dirty="0" err="1">
                <a:solidFill>
                  <a:srgbClr val="A9AE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</a:t>
            </a:r>
            <a:r>
              <a:rPr lang="uk-UA" sz="1600" i="1" dirty="0" err="1">
                <a:solidFill>
                  <a:srgbClr val="A9AE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ія</a:t>
            </a:r>
            <a:r>
              <a:rPr lang="en-US" sz="1600" i="1" dirty="0">
                <a:solidFill>
                  <a:srgbClr val="A9AE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2026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310896" cy="310896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504" y="3837304"/>
            <a:ext cx="230063" cy="23006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37490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098 707-74-67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560320" y="3794760"/>
            <a:ext cx="310896" cy="310896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2864" y="3837304"/>
            <a:ext cx="230063" cy="23006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44368" y="3749040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romankolomiets@gmail.com · R.Kolomiiets01@mil.ua</a:t>
            </a:r>
            <a:endParaRPr lang="en-US" sz="1200" dirty="0"/>
          </a:p>
        </p:txBody>
      </p:sp>
      <p:pic>
        <p:nvPicPr>
          <p:cNvPr id="13" name="Image 2" descr="/home/claude/armia_pl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568" y="3794760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14616" y="37490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- 325 003 092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1938528" cy="1051560"/>
          </a:xfrm>
          <a:prstGeom prst="roundRect">
            <a:avLst>
              <a:gd name="adj" fmla="val 5217"/>
            </a:avLst>
          </a:prstGeom>
          <a:solidFill>
            <a:srgbClr val="3E463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42416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років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51790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8D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досвіду в дизайні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24328" y="960120"/>
            <a:ext cx="1938528" cy="1051560"/>
          </a:xfrm>
          <a:prstGeom prst="roundRect">
            <a:avLst>
              <a:gd name="adj" fmla="val 5217"/>
            </a:avLst>
          </a:prstGeom>
          <a:solidFill>
            <a:srgbClr val="3E463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24328" y="1042416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624328" y="151790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8D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сертифікатів ·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45736" y="960120"/>
            <a:ext cx="1938528" cy="1051560"/>
          </a:xfrm>
          <a:prstGeom prst="roundRect">
            <a:avLst>
              <a:gd name="adj" fmla="val 5217"/>
            </a:avLst>
          </a:prstGeom>
          <a:solidFill>
            <a:srgbClr val="3E463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45736" y="1042416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міс.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745736" y="151790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8D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служби в ЗСУ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67144" y="960120"/>
            <a:ext cx="1938528" cy="1051560"/>
          </a:xfrm>
          <a:prstGeom prst="roundRect">
            <a:avLst>
              <a:gd name="adj" fmla="val 5217"/>
            </a:avLst>
          </a:prstGeom>
          <a:solidFill>
            <a:srgbClr val="3E463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67144" y="1042416"/>
            <a:ext cx="19385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КПІ · ФТІ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67144" y="151790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8D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прикладна фізика</a:t>
            </a:r>
            <a:endParaRPr lang="en-US" sz="115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7744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960120" y="233172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Дизайнер з 17-річним досвідом у сферах UX/UI, веб-дизайну, візуальних комунікацій та інфографіки. Випускник Фізико-технічного інституту КПІ.</a:t>
            </a:r>
            <a:endParaRPr lang="en-US" sz="13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35808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60120" y="2990088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Аналітичне мислення та розуміння складних технічних систем — ефективна візуалізація даних і зрозумілі комунікаційні матеріали.</a:t>
            </a:r>
            <a:endParaRPr lang="en-US" sz="13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94176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60120" y="3648456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Останні 4 роки активно використовую AI-інструменти (Claude, ChatGPT, Grok): генерація концепцій, прототипування, автоматизація рутинних задач.</a:t>
            </a:r>
            <a:endParaRPr lang="en-US" sz="13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5254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0120" y="4306824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9+ місяців служби в ЗСУ: інформаційні системи оборонного сектору, цифровізація процесів та впровадження цифрових інструментів.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Кар'єрний шлях — 17 років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2651760"/>
            <a:ext cx="7863840" cy="0"/>
          </a:xfrm>
          <a:prstGeom prst="line">
            <a:avLst/>
          </a:prstGeom>
          <a:noFill/>
          <a:ln w="31750">
            <a:solidFill>
              <a:srgbClr val="3E46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2569464"/>
            <a:ext cx="164592" cy="164592"/>
          </a:xfrm>
          <a:prstGeom prst="ellipse">
            <a:avLst/>
          </a:prstGeom>
          <a:solidFill>
            <a:srgbClr val="3E463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51560"/>
            <a:ext cx="1572768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1064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2008–2015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93192" y="1380744"/>
            <a:ext cx="151790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UX/UI Designer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93192" y="1920240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Binarum · uTrader · systemforex · Marks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98064" y="2569464"/>
            <a:ext cx="164592" cy="164592"/>
          </a:xfrm>
          <a:prstGeom prst="ellipse">
            <a:avLst/>
          </a:prstGeom>
          <a:solidFill>
            <a:srgbClr val="3E4637"/>
          </a:solidFill>
          <a:ln/>
        </p:spPr>
      </p:sp>
      <p:sp>
        <p:nvSpPr>
          <p:cNvPr id="10" name="Shape 8"/>
          <p:cNvSpPr/>
          <p:nvPr/>
        </p:nvSpPr>
        <p:spPr>
          <a:xfrm>
            <a:off x="2103120" y="2880360"/>
            <a:ext cx="1572768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63500" dist="25400" dir="189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03120" y="29352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2014–2017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130552" y="3209544"/>
            <a:ext cx="151790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/ Interface Dev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30552" y="3749040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 Group · фінанси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35424" y="2569464"/>
            <a:ext cx="164592" cy="164592"/>
          </a:xfrm>
          <a:prstGeom prst="ellipse">
            <a:avLst/>
          </a:prstGeom>
          <a:solidFill>
            <a:srgbClr val="3E4637"/>
          </a:solidFill>
          <a:ln/>
        </p:spPr>
      </p:sp>
      <p:sp>
        <p:nvSpPr>
          <p:cNvPr id="15" name="Shape 13"/>
          <p:cNvSpPr/>
          <p:nvPr/>
        </p:nvSpPr>
        <p:spPr>
          <a:xfrm>
            <a:off x="3840480" y="1051560"/>
            <a:ext cx="1572768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40480" y="11064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2017–2021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867912" y="1380744"/>
            <a:ext cx="151790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Web/UI/UX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67912" y="1920240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ALDI Ukraine · рітейл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72784" y="2569464"/>
            <a:ext cx="164592" cy="164592"/>
          </a:xfrm>
          <a:prstGeom prst="ellipse">
            <a:avLst/>
          </a:prstGeom>
          <a:solidFill>
            <a:srgbClr val="3E4637"/>
          </a:solidFill>
          <a:ln/>
        </p:spPr>
      </p:sp>
      <p:sp>
        <p:nvSpPr>
          <p:cNvPr id="20" name="Shape 18"/>
          <p:cNvSpPr/>
          <p:nvPr/>
        </p:nvSpPr>
        <p:spPr>
          <a:xfrm>
            <a:off x="5577840" y="2880360"/>
            <a:ext cx="1572768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63500" dist="25400" dir="189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577840" y="29352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05272" y="3209544"/>
            <a:ext cx="151790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Strategist / Designer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05272" y="3749040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 «МСЛ» · IT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10144" y="2569464"/>
            <a:ext cx="164592" cy="16459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0" y="1051560"/>
            <a:ext cx="1572768" cy="1371600"/>
          </a:xfrm>
          <a:prstGeom prst="roundRect">
            <a:avLst>
              <a:gd name="adj" fmla="val 3333"/>
            </a:avLst>
          </a:prstGeom>
          <a:solidFill>
            <a:srgbClr val="3E4637"/>
          </a:solidFill>
          <a:ln/>
          <a:effectLst>
            <a:outerShdw blurRad="635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0" y="1106424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2025–нині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42632" y="1380744"/>
            <a:ext cx="151790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Штаб-сержант, цифровізація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42632" y="1920240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8D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ОБЗ, ЗСУ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Служба в ЗСУ — поточна посада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Штаб-сержант 3 кат. · група цифрового розвитку, цифрової трансформації та цифровізації штабу · 120 ОБЗ (в/ч А5118) · 09.2025 — дотепер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75488" cy="475488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07" y="1436667"/>
            <a:ext cx="351861" cy="3518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5331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 інфраструктура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069080" y="135331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Обслуговування, налагодження, моніторинг мереж у Zabbix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084832"/>
            <a:ext cx="475488" cy="475488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07" y="2149899"/>
            <a:ext cx="351861" cy="35186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066544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 ЗСУ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069080" y="2066544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Розгортання СПЗ ВIРAЖ, ЗАТК Слід / Тест (МедЕВАК), MDM · робота в ІКС Delta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798064"/>
            <a:ext cx="475488" cy="475488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07" y="2863131"/>
            <a:ext cx="351861" cy="35186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779776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Схеми та топології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069080" y="277977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Карти мереж вузлів зв'язку, топологічні діаграми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48640" y="3511296"/>
            <a:ext cx="475488" cy="475488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707" y="3576363"/>
            <a:ext cx="351861" cy="35186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349300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Штабна документація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069080" y="349300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Накази, звіти, презентації для командування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4224528"/>
            <a:ext cx="475488" cy="475488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707" y="4289595"/>
            <a:ext cx="351861" cy="35186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88720" y="4206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Цифрова трансформація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4069080" y="420624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Участь у цифровізації процесів та впровадженні нових інструментів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Цивільний досвід — продуктовий дизайн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3977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05156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ТОВ «МСЛ» · 2021–2024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Strategist / Designer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73352"/>
            <a:ext cx="3611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Інтерфейси веб і мобільних застосунків у Figma · UI-компоненти, дизайн-системи, прототипи · презентації та інфографіка · взаємодія з розробкою і продактами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27448" y="960120"/>
            <a:ext cx="3977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10328" y="105156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ALDI Ukraine · 2017–2021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10328" y="132588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(Web / UI / UX)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10328" y="1673352"/>
            <a:ext cx="3611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Цифрові та друковані маркетингові матеріали, брендинг · презентації для топ-менеджменту · єдиний візуальний стиль компанії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3977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01752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 Group · 2014–2017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29184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/ Interface Developer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639312"/>
            <a:ext cx="3611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 для фінтех-продуктів і торгових платформ · front-end компоненти, HTML/CSS верстка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27448" y="2926080"/>
            <a:ext cx="3977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10328" y="301752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2008–2015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10328" y="329184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UX/UI Designer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10328" y="3639312"/>
            <a:ext cx="3611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Binarum, uTrader, systemforex, Marks · сайти, банери, лендінги · верстка, Flash/Animate анімації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Навички та інструменти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EFEBDD"/>
          </a:solidFill>
          <a:ln/>
        </p:spPr>
      </p:sp>
      <p:sp>
        <p:nvSpPr>
          <p:cNvPr id="4" name="Shape 2"/>
          <p:cNvSpPr/>
          <p:nvPr/>
        </p:nvSpPr>
        <p:spPr>
          <a:xfrm>
            <a:off x="704088" y="1234440"/>
            <a:ext cx="457200" cy="457200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652" y="1297004"/>
            <a:ext cx="338328" cy="338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527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04088" y="18288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· Photoshop · Illustrator · InDesign · Corel · PowerPoint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37560" y="105156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EFEBDD"/>
          </a:solidFill>
          <a:ln/>
        </p:spPr>
      </p:sp>
      <p:sp>
        <p:nvSpPr>
          <p:cNvPr id="9" name="Shape 6"/>
          <p:cNvSpPr/>
          <p:nvPr/>
        </p:nvSpPr>
        <p:spPr>
          <a:xfrm>
            <a:off x="3538728" y="1234440"/>
            <a:ext cx="457200" cy="457200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292" y="1297004"/>
            <a:ext cx="338328" cy="3383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12527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Інфографіка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38728" y="18288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Візуалізація даних · дашборди · схеми · карти мереж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72200" y="105156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EFEBDD"/>
          </a:solidFill>
          <a:ln/>
        </p:spPr>
      </p:sp>
      <p:sp>
        <p:nvSpPr>
          <p:cNvPr id="14" name="Shape 10"/>
          <p:cNvSpPr/>
          <p:nvPr/>
        </p:nvSpPr>
        <p:spPr>
          <a:xfrm>
            <a:off x="6373368" y="1234440"/>
            <a:ext cx="457200" cy="457200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5932" y="1297004"/>
            <a:ext cx="338328" cy="33832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12527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Відео / Анімація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73368" y="182880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Premiere Pro · Animate · After Effects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02920" y="292608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EFEBDD"/>
          </a:solidFill>
          <a:ln/>
        </p:spPr>
      </p:sp>
      <p:sp>
        <p:nvSpPr>
          <p:cNvPr id="19" name="Shape 14"/>
          <p:cNvSpPr/>
          <p:nvPr/>
        </p:nvSpPr>
        <p:spPr>
          <a:xfrm>
            <a:off x="704088" y="3108960"/>
            <a:ext cx="457200" cy="457200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652" y="3171524"/>
            <a:ext cx="338328" cy="33832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80160" y="31272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/ Системи ЗСУ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704088" y="37033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Zabbix · ІКС Delta · СПЗ ВIРAЖ · ЗАТК Слід/Тест · MDM · MS 365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337560" y="292608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EFEBDD"/>
          </a:solidFill>
          <a:ln/>
        </p:spPr>
      </p:sp>
      <p:sp>
        <p:nvSpPr>
          <p:cNvPr id="24" name="Shape 18"/>
          <p:cNvSpPr/>
          <p:nvPr/>
        </p:nvSpPr>
        <p:spPr>
          <a:xfrm>
            <a:off x="3538728" y="3108960"/>
            <a:ext cx="457200" cy="457200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1292" y="3171524"/>
            <a:ext cx="338328" cy="33832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114800" y="31272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3538728" y="37033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базовий JavaScript · Git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72200" y="292608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EFEBDD"/>
          </a:solidFill>
          <a:ln/>
        </p:spPr>
      </p:sp>
      <p:sp>
        <p:nvSpPr>
          <p:cNvPr id="29" name="Shape 22"/>
          <p:cNvSpPr/>
          <p:nvPr/>
        </p:nvSpPr>
        <p:spPr>
          <a:xfrm>
            <a:off x="6373368" y="3108960"/>
            <a:ext cx="457200" cy="457200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932" y="3171524"/>
            <a:ext cx="338328" cy="33832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49440" y="31272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AI-інструменти</a:t>
            </a:r>
            <a:endParaRPr lang="en-US" sz="1400" dirty="0"/>
          </a:p>
        </p:txBody>
      </p:sp>
      <p:sp>
        <p:nvSpPr>
          <p:cNvPr id="32" name="Text 24"/>
          <p:cNvSpPr/>
          <p:nvPr/>
        </p:nvSpPr>
        <p:spPr>
          <a:xfrm>
            <a:off x="6373368" y="37033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 · Grok — 4 роки активного використання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 — 26 документів (2026)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0" y="347472"/>
            <a:ext cx="2240280" cy="402336"/>
          </a:xfrm>
          <a:prstGeom prst="roundRect">
            <a:avLst>
              <a:gd name="adj" fmla="val 50000"/>
            </a:avLst>
          </a:prstGeom>
          <a:solidFill>
            <a:srgbClr val="B08D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0" y="347472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ВОС-403 · телекомунікації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4572000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115568"/>
            <a:ext cx="420624" cy="420624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91" y="1173127"/>
            <a:ext cx="311262" cy="3112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113385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Військові курси — 15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" y="1700784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Цифрові системи ЗСУ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450592" y="1700784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· СЕДО · DOT-Chain · Цифрова трансформація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13232" y="2304288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Зв'язок та РЕБ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450592" y="2304288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Основи зв'язку на полі бою · Основи РЕБ · ГРАФІТ (БпЛА)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13232" y="2907792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Кібербезпека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450592" y="2907792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Кібергігієна 2.0 · Кібербезпека · Протидія ІПСО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13232" y="3511296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Новітні технології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450592" y="3511296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Дрони на оптоволокні · Наземні роботизовані комплекси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13232" y="41148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Загальновійськові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450592" y="411480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Тактична медицина · Психологія · Фінансова грамотність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257800" y="932688"/>
            <a:ext cx="3383280" cy="3886200"/>
          </a:xfrm>
          <a:prstGeom prst="roundRect">
            <a:avLst>
              <a:gd name="adj" fmla="val 1622"/>
            </a:avLst>
          </a:prstGeom>
          <a:solidFill>
            <a:srgbClr val="3E4637"/>
          </a:solidFill>
          <a:ln/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68112" y="1115568"/>
            <a:ext cx="420624" cy="420624"/>
          </a:xfrm>
          <a:prstGeom prst="ellipse">
            <a:avLst/>
          </a:prstGeom>
          <a:solidFill>
            <a:srgbClr val="2E3429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5671" y="1173127"/>
            <a:ext cx="311262" cy="31126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998464" y="113385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ОСВІТА Дія — 10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0" y="1773936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24" name="Text 20"/>
          <p:cNvSpPr/>
          <p:nvPr/>
        </p:nvSpPr>
        <p:spPr>
          <a:xfrm>
            <a:off x="5669280" y="167335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Датааналітик: Вступ до Excel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486400" y="2080260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26" name="Text 22"/>
          <p:cNvSpPr/>
          <p:nvPr/>
        </p:nvSpPr>
        <p:spPr>
          <a:xfrm>
            <a:off x="5669280" y="1979676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Датааналітик: SQL та Power BI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486400" y="2386584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28" name="Text 24"/>
          <p:cNvSpPr/>
          <p:nvPr/>
        </p:nvSpPr>
        <p:spPr>
          <a:xfrm>
            <a:off x="5669280" y="2286000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Штучний інтелект (ШІ)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0" y="2692908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30" name="Text 26"/>
          <p:cNvSpPr/>
          <p:nvPr/>
        </p:nvSpPr>
        <p:spPr>
          <a:xfrm>
            <a:off x="5669280" y="259232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Інженер із комп'ютерних систем і мереж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5486400" y="2999232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32" name="Text 28"/>
          <p:cNvSpPr/>
          <p:nvPr/>
        </p:nvSpPr>
        <p:spPr>
          <a:xfrm>
            <a:off x="5669280" y="28986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та розвиток ІТ-продуктів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486400" y="3305556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34" name="Text 30"/>
          <p:cNvSpPr/>
          <p:nvPr/>
        </p:nvSpPr>
        <p:spPr>
          <a:xfrm>
            <a:off x="5669280" y="3204972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 до ІТ продакт-менеджменту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5486400" y="3611880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36" name="Text 32"/>
          <p:cNvSpPr/>
          <p:nvPr/>
        </p:nvSpPr>
        <p:spPr>
          <a:xfrm>
            <a:off x="5669280" y="3511296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Цифровий бізнес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5486400" y="3918204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38" name="Text 34"/>
          <p:cNvSpPr/>
          <p:nvPr/>
        </p:nvSpPr>
        <p:spPr>
          <a:xfrm>
            <a:off x="5669280" y="3817620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Цифрові держслужбовці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5486400" y="4224528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40" name="Text 36"/>
          <p:cNvSpPr/>
          <p:nvPr/>
        </p:nvSpPr>
        <p:spPr>
          <a:xfrm>
            <a:off x="5669280" y="4123944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Цифровізація державного сектору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5486400" y="4530852"/>
            <a:ext cx="73152" cy="73152"/>
          </a:xfrm>
          <a:prstGeom prst="ellipse">
            <a:avLst/>
          </a:prstGeom>
          <a:solidFill>
            <a:srgbClr val="B08D3A"/>
          </a:solidFill>
          <a:ln/>
        </p:spPr>
      </p:sp>
      <p:sp>
        <p:nvSpPr>
          <p:cNvPr id="42" name="Text 38"/>
          <p:cNvSpPr/>
          <p:nvPr/>
        </p:nvSpPr>
        <p:spPr>
          <a:xfrm>
            <a:off x="5669280" y="443026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Нові цифрові професії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Освіта та мови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5120640" cy="3566160"/>
          </a:xfrm>
          <a:prstGeom prst="roundRect">
            <a:avLst>
              <a:gd name="adj" fmla="val 1538"/>
            </a:avLst>
          </a:prstGeom>
          <a:solidFill>
            <a:srgbClr val="EFEBDD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" y="1234440"/>
            <a:ext cx="512064" cy="512064"/>
          </a:xfrm>
          <a:prstGeom prst="ellipse">
            <a:avLst/>
          </a:prstGeom>
          <a:solidFill>
            <a:srgbClr val="3E463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880" y="1304512"/>
            <a:ext cx="378927" cy="3789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24358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КПІ ім. Ігоря Сікорського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17320" y="1591056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Фізико-технічний інститут · 2004–2011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148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Прикладна фізика</a:t>
            </a:r>
            <a:endParaRPr lang="en-US" sz="15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3347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2560320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Спеціаліст — диплом КВ39983760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0896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3035808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Бакалавр — диплом КВ37367864</a:t>
            </a:r>
            <a:endParaRPr lang="en-US" sz="1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84448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3511296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Дипломна робота: магнієво-вуглецеві та воднево-вуглецеві нанокомпозити, механохімічний синтез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59936"/>
            <a:ext cx="219456" cy="21945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97280" y="3986784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Аналітичне мислення, робота з великими масивами даних, точність і структурованість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5852160" y="1005840"/>
            <a:ext cx="2788920" cy="3566160"/>
          </a:xfrm>
          <a:prstGeom prst="roundRect">
            <a:avLst>
              <a:gd name="adj" fmla="val 1967"/>
            </a:avLst>
          </a:prstGeom>
          <a:solidFill>
            <a:srgbClr val="3E4637"/>
          </a:solidFill>
          <a:ln/>
        </p:spPr>
      </p:sp>
      <p:sp>
        <p:nvSpPr>
          <p:cNvPr id="18" name="Shape 11"/>
          <p:cNvSpPr/>
          <p:nvPr/>
        </p:nvSpPr>
        <p:spPr>
          <a:xfrm>
            <a:off x="6089904" y="1234440"/>
            <a:ext cx="512064" cy="512064"/>
          </a:xfrm>
          <a:prstGeom prst="ellipse">
            <a:avLst/>
          </a:prstGeom>
          <a:solidFill>
            <a:srgbClr val="2E3429"/>
          </a:solidFill>
          <a:ln/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976" y="1304512"/>
            <a:ext cx="378927" cy="378927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766560" y="129844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Мови</a:t>
            </a:r>
            <a:endParaRPr lang="en-US" sz="1700" dirty="0"/>
          </a:p>
        </p:txBody>
      </p:sp>
      <p:sp>
        <p:nvSpPr>
          <p:cNvPr id="21" name="Text 13"/>
          <p:cNvSpPr/>
          <p:nvPr/>
        </p:nvSpPr>
        <p:spPr>
          <a:xfrm>
            <a:off x="6126480" y="2057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Українська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126480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Рідна</a:t>
            </a:r>
            <a:endParaRPr lang="en-US" sz="1050" dirty="0"/>
          </a:p>
        </p:txBody>
      </p:sp>
      <p:sp>
        <p:nvSpPr>
          <p:cNvPr id="23" name="Text 15"/>
          <p:cNvSpPr/>
          <p:nvPr/>
        </p:nvSpPr>
        <p:spPr>
          <a:xfrm>
            <a:off x="6126480" y="28803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Англійська</a:t>
            </a:r>
            <a:endParaRPr lang="en-US" sz="1350" dirty="0"/>
          </a:p>
        </p:txBody>
      </p:sp>
      <p:sp>
        <p:nvSpPr>
          <p:cNvPr id="24" name="Text 16"/>
          <p:cNvSpPr/>
          <p:nvPr/>
        </p:nvSpPr>
        <p:spPr>
          <a:xfrm>
            <a:off x="6126480" y="31546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Вище середнього — технічна документація, базове спілкування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Портфоліо — живі продукти</a:t>
            </a:r>
            <a:endParaRPr lang="en-US" sz="3000" dirty="0"/>
          </a:p>
        </p:txBody>
      </p:sp>
      <p:pic>
        <p:nvPicPr>
          <p:cNvPr id="3" name="Image 0" descr="/home/claude/viz/viz4_fi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0120"/>
            <a:ext cx="4114800" cy="22311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3246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 Guru · fibo.guru — 7 мов, RTL, 9+ років у продакшені</a:t>
            </a:r>
            <a:endParaRPr lang="en-US" sz="1150" dirty="0"/>
          </a:p>
        </p:txBody>
      </p:sp>
      <p:pic>
        <p:nvPicPr>
          <p:cNvPr id="5" name="Image 1" descr="/home/claude/viz/viz5_ms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960120"/>
            <a:ext cx="3977640" cy="2651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709160" y="365760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МСЛ «Супер 7» · msl.ua — 3 ігри, реальні гроші, дизайн + розробка</a:t>
            </a:r>
            <a:endParaRPr lang="en-US" sz="1150" dirty="0"/>
          </a:p>
        </p:txBody>
      </p:sp>
      <p:sp>
        <p:nvSpPr>
          <p:cNvPr id="7" name="Shape 3"/>
          <p:cNvSpPr/>
          <p:nvPr/>
        </p:nvSpPr>
        <p:spPr>
          <a:xfrm>
            <a:off x="411480" y="4343400"/>
            <a:ext cx="8275320" cy="548640"/>
          </a:xfrm>
          <a:prstGeom prst="roundRect">
            <a:avLst>
              <a:gd name="adj" fmla="val 13333"/>
            </a:avLst>
          </a:prstGeom>
          <a:solidFill>
            <a:srgbClr val="EFEBDD"/>
          </a:solidFill>
          <a:ln/>
        </p:spPr>
      </p:sp>
      <p:sp>
        <p:nvSpPr>
          <p:cNvPr id="8" name="Text 4"/>
          <p:cNvSpPr/>
          <p:nvPr/>
        </p:nvSpPr>
        <p:spPr>
          <a:xfrm>
            <a:off x="411480" y="4343400"/>
            <a:ext cx="8275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42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Всі кейси з інфографіками:  </a:t>
            </a:r>
            <a:r>
              <a:rPr lang="en-US" sz="135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romankolomiets.github.io/cv/port.html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E46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ЗСУ — приклади візуалізації</a:t>
            </a:r>
            <a:endParaRPr lang="en-US" sz="3000" dirty="0"/>
          </a:p>
        </p:txBody>
      </p:sp>
      <p:pic>
        <p:nvPicPr>
          <p:cNvPr id="3" name="Image 0" descr="/home/claude/viz/viz1_top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4114800" cy="28254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4069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вузла зв'язку · наказ №140</a:t>
            </a:r>
            <a:endParaRPr lang="en-US" sz="1150" dirty="0"/>
          </a:p>
        </p:txBody>
      </p:sp>
      <p:pic>
        <p:nvPicPr>
          <p:cNvPr id="5" name="Image 1" descr="/home/claude/viz/viz3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005840"/>
            <a:ext cx="3977640" cy="1947672"/>
          </a:xfrm>
          <a:prstGeom prst="rect">
            <a:avLst/>
          </a:prstGeom>
        </p:spPr>
      </p:pic>
      <p:pic>
        <p:nvPicPr>
          <p:cNvPr id="6" name="Image 2" descr="/home/claude/viz/viz2_r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063240"/>
            <a:ext cx="3977640" cy="18653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3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я — для МОУ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9786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14300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Чинний військовослужбовець ЗСУ, в/ч А5118 — відповідаю умовам переведення у вакансії</a:t>
            </a:r>
            <a:endParaRPr lang="en-US" sz="1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6479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1560" y="1709928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років дизайну + інженерна освіта КПІ + досвід систем оборонного сектору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31720"/>
            <a:ext cx="274320" cy="2743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51560" y="2276856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Наказ ГШ ЗСУ №40 — військове діловодство, оформлення службових документів</a:t>
            </a:r>
            <a:endParaRPr lang="en-US" sz="14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98648"/>
            <a:ext cx="274320" cy="2743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51560" y="2843784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Наказ ГК ЗСУ №140 — оперативні (бойові) документи, знаки НАТО: Delta та друковані карти</a:t>
            </a:r>
            <a:endParaRPr lang="en-US" sz="14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65576"/>
            <a:ext cx="274320" cy="2743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51560" y="3410712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8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 навчаюся, ініціативний, працюю в умовах стислих дедлайнів</a:t>
            </a:r>
            <a:endParaRPr lang="en-US" sz="1450" dirty="0"/>
          </a:p>
        </p:txBody>
      </p:sp>
      <p:sp>
        <p:nvSpPr>
          <p:cNvPr id="13" name="Shape 6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12700">
            <a:solidFill>
              <a:srgbClr val="B08D3A"/>
            </a:solidFill>
            <a:prstDash val="solid"/>
          </a:ln>
        </p:spPr>
      </p:sp>
      <p:sp>
        <p:nvSpPr>
          <p:cNvPr id="14" name="Text 7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Коломієць Роман   </a:t>
            </a:r>
            <a:r>
              <a:rPr lang="en-US" sz="1200" dirty="0">
                <a:solidFill>
                  <a:srgbClr val="C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098 707-74-67  ·  romankolomiets@gmail.com  ·  R.Kolomiiets01@mil.ua  ·  Київ</a:t>
            </a:r>
            <a:endParaRPr lang="en-US" sz="1400" dirty="0"/>
          </a:p>
        </p:txBody>
      </p:sp>
      <p:sp>
        <p:nvSpPr>
          <p:cNvPr id="15" name="Text 8"/>
          <p:cNvSpPr/>
          <p:nvPr/>
        </p:nvSpPr>
        <p:spPr>
          <a:xfrm>
            <a:off x="640080" y="46177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Повний пакет онлайн:  </a:t>
            </a:r>
            <a:r>
              <a:rPr lang="en-US" sz="1300" b="1" dirty="0">
                <a:solidFill>
                  <a:srgbClr val="B08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romankolomiets.github.io/cv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830</Words>
  <Application>Microsoft Office PowerPoint</Application>
  <PresentationFormat>Экран (16:9)</PresentationFormat>
  <Paragraphs>136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Резюме — Коломієць Роман</dc:title>
  <dc:subject>PptxGenJS Presentation</dc:subject>
  <dc:creator>Роман Коломієць</dc:creator>
  <cp:lastModifiedBy>Roman</cp:lastModifiedBy>
  <cp:revision>2</cp:revision>
  <dcterms:created xsi:type="dcterms:W3CDTF">2026-07-15T06:15:17Z</dcterms:created>
  <dcterms:modified xsi:type="dcterms:W3CDTF">2026-07-15T06:22:13Z</dcterms:modified>
</cp:coreProperties>
</file>
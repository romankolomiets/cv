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851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8321040" cy="4315968"/>
          </a:xfrm>
          <a:prstGeom prst="rect">
            <a:avLst/>
          </a:prstGeom>
          <a:solidFill>
            <a:srgbClr val="2E3429"/>
          </a:solidFill>
          <a:ln w="15240">
            <a:solidFill>
              <a:srgbClr val="B08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515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КОЛОМІЄЦЬ РОМАН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ОЛЕГОВИЧ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D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· UX/UI · Візуальні комунікації · Дата-аналітика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· Київ ·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310896" cy="310896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04" y="3837304"/>
            <a:ext cx="230063" cy="2300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098 707-74-67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3794760"/>
            <a:ext cx="310896" cy="310896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864" y="3837304"/>
            <a:ext cx="230063" cy="2300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3749040"/>
            <a:ext cx="3730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romankolomiets@gmail.com</a:t>
            </a:r>
            <a:r>
              <a:rPr lang="uk-UA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uk-UA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R.Kolomiiets01@mil.ua</a:t>
            </a:r>
          </a:p>
        </p:txBody>
      </p:sp>
      <p:sp>
        <p:nvSpPr>
          <p:cNvPr id="13" name="Shape 9"/>
          <p:cNvSpPr/>
          <p:nvPr/>
        </p:nvSpPr>
        <p:spPr>
          <a:xfrm>
            <a:off x="6827901" y="3794760"/>
            <a:ext cx="310896" cy="310896"/>
          </a:xfrm>
          <a:prstGeom prst="ellipse">
            <a:avLst/>
          </a:prstGeom>
          <a:solidFill>
            <a:srgbClr val="3E4637"/>
          </a:solidFill>
          <a:ln/>
        </p:spPr>
      </p:sp>
      <p:sp>
        <p:nvSpPr>
          <p:cNvPr id="15" name="Text 10"/>
          <p:cNvSpPr/>
          <p:nvPr/>
        </p:nvSpPr>
        <p:spPr>
          <a:xfrm>
            <a:off x="7211949" y="3749040"/>
            <a:ext cx="13114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</a:t>
            </a:r>
            <a:r>
              <a:rPr lang="uk-UA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325 003 092</a:t>
            </a:r>
            <a:endParaRPr lang="en-US" sz="13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2F44F2B-D2B7-6621-E4E7-658560880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901" y="379476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E4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938528" cy="1051560"/>
          </a:xfrm>
          <a:prstGeom prst="roundRect">
            <a:avLst>
              <a:gd name="adj" fmla="val 5217"/>
            </a:avLst>
          </a:prstGeom>
          <a:solidFill>
            <a:srgbClr val="3E463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42416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років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досвіду в дизайні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24328" y="960120"/>
            <a:ext cx="1938528" cy="1051560"/>
          </a:xfrm>
          <a:prstGeom prst="roundRect">
            <a:avLst>
              <a:gd name="adj" fmla="val 5217"/>
            </a:avLst>
          </a:prstGeom>
          <a:solidFill>
            <a:srgbClr val="3E463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24328" y="1042416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24328" y="151790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сертифікат ·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45736" y="960120"/>
            <a:ext cx="1938528" cy="1051560"/>
          </a:xfrm>
          <a:prstGeom prst="roundRect">
            <a:avLst>
              <a:gd name="adj" fmla="val 5217"/>
            </a:avLst>
          </a:prstGeom>
          <a:solidFill>
            <a:srgbClr val="3E463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45736" y="1042416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міс.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45736" y="151790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служби в ЗСУ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67144" y="960120"/>
            <a:ext cx="1938528" cy="1051560"/>
          </a:xfrm>
          <a:prstGeom prst="roundRect">
            <a:avLst>
              <a:gd name="adj" fmla="val 5217"/>
            </a:avLst>
          </a:prstGeom>
          <a:solidFill>
            <a:srgbClr val="3E463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67144" y="1042416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КПІ · ФТІ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67144" y="151790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прикладна фізика</a:t>
            </a:r>
            <a:endParaRPr lang="en-US" sz="11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233172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 з 17-річним досвідом у сферах UX/UI, веб-дизайну, візуальних комунікацій та інфографіки. Випускник Фізико-технічного інституту КПІ.</a:t>
            </a:r>
            <a:endParaRPr lang="en-US" sz="13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3580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2990088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Аналітичне мислення та розуміння складних технічних систем — ефективна візуалізація даних і зрозумілі комунікаційні матеріали.</a:t>
            </a:r>
            <a:endParaRPr lang="en-US" sz="13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9417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648456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Останні 4 роки активно використовую AI-інструменти (Claude, ChatGPT, Grok): генерація концепцій, прототипування, автоматизація рутинних задач.</a:t>
            </a:r>
            <a:endParaRPr lang="en-US" sz="13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525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4306824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місяців служби в ЗСУ: інформаційні системи оборонного сектору, цифровізація процесів та впровадження цифрових інструментів.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4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Кар'єрний шлях — 17 років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651760"/>
            <a:ext cx="7863840" cy="0"/>
          </a:xfrm>
          <a:prstGeom prst="line">
            <a:avLst/>
          </a:prstGeom>
          <a:noFill/>
          <a:ln w="31750">
            <a:solidFill>
              <a:srgbClr val="3E46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2569464"/>
            <a:ext cx="164592" cy="164592"/>
          </a:xfrm>
          <a:prstGeom prst="ellipse">
            <a:avLst/>
          </a:prstGeom>
          <a:solidFill>
            <a:srgbClr val="3E463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157276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06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2008–2015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" y="1380744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UX/UI Designer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" y="19202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Binarum · uTrader · systemforex · Marks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98064" y="2569464"/>
            <a:ext cx="164592" cy="164592"/>
          </a:xfrm>
          <a:prstGeom prst="ellipse">
            <a:avLst/>
          </a:prstGeom>
          <a:solidFill>
            <a:srgbClr val="3E4637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2880360"/>
            <a:ext cx="157276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189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29352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2014–2017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30552" y="3209544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Interface Dev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30552" y="37490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 Group · фінанси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35424" y="2569464"/>
            <a:ext cx="164592" cy="164592"/>
          </a:xfrm>
          <a:prstGeom prst="ellipse">
            <a:avLst/>
          </a:prstGeom>
          <a:solidFill>
            <a:srgbClr val="3E4637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1051560"/>
            <a:ext cx="157276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0" y="1106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2017–2021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67912" y="1380744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Web/UI/UX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67912" y="19202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 Ukraine · рітейл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72784" y="2569464"/>
            <a:ext cx="164592" cy="164592"/>
          </a:xfrm>
          <a:prstGeom prst="ellipse">
            <a:avLst/>
          </a:prstGeom>
          <a:solidFill>
            <a:srgbClr val="3E4637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0" y="2880360"/>
            <a:ext cx="157276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189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29352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05272" y="3209544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Strategist / Designer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05272" y="37490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 «МСЛ» · 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10144" y="2569464"/>
            <a:ext cx="164592" cy="164592"/>
          </a:xfrm>
          <a:prstGeom prst="ellipse">
            <a:avLst/>
          </a:prstGeom>
          <a:solidFill>
            <a:srgbClr val="B08D3A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1051560"/>
            <a:ext cx="1572768" cy="1371600"/>
          </a:xfrm>
          <a:prstGeom prst="roundRect">
            <a:avLst>
              <a:gd name="adj" fmla="val 3333"/>
            </a:avLst>
          </a:prstGeom>
          <a:solidFill>
            <a:srgbClr val="3E4637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1106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2025–нині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42632" y="1380744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Штаб-сержант, цифровізація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42632" y="1920240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ОБЗ, ЗСУ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Служба в ЗСУ — поточна посада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Штаб-сержант 3 кат. · група цифрового розвитку, цифрової трансформації та цифровізації штабу · 120 ОБЗ (в/ч А5118) · 09.2025 — дотепер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" cy="475488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07" y="1436667"/>
            <a:ext cx="351861" cy="3518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533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 інфраструктура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69080" y="13533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Обслуговування, налагодження, моніторинг мереж у Zabbix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084832"/>
            <a:ext cx="475488" cy="475488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07" y="2149899"/>
            <a:ext cx="351861" cy="3518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06654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 ЗСУ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069080" y="206654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Розгортання ІКС ВIРAЖ, ЗАТК Слід / Тест (МедЕВАК), MDM · робота в Delta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798064"/>
            <a:ext cx="475488" cy="475488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07" y="2863131"/>
            <a:ext cx="351861" cy="3518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797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Схеми та топології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069080" y="27797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 мереж вузлів зв'язку, топологічні діаграми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511296"/>
            <a:ext cx="475488" cy="475488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707" y="3576363"/>
            <a:ext cx="351861" cy="3518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4930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Штабна документація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069080" y="34930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Накази, звіти, презентації для командування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224528"/>
            <a:ext cx="475488" cy="475488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707" y="4289595"/>
            <a:ext cx="351861" cy="3518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206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 трансформація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069080" y="42062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Участь у цифровізації процесів та впровадженні нових інструментів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Цивільний досвід — продуктовий дизайн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776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515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 «МСЛ» · 2021–2024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Strategist / Designer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Інтерфейси веб і мобільних застосунків у Figma · UI-компоненти, дизайн-системи, прототипи · презентації та інфографіка · взаємодія з розробкою і продактами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27448" y="960120"/>
            <a:ext cx="39776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0328" y="10515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 Ukraine · 2017–2021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10328" y="13258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(Web / UI / UX)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10328" y="1673352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Цифрові та друковані маркетингові матеріали, брендинг · презентації для топ-менеджменту · єдиний візуальний стиль компанії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39776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175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 Group · 2014–2017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Interface Developer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639312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для фінтех-продуктів і торгових платформ · front-end компоненти, HTML/CSS верстка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27448" y="2926080"/>
            <a:ext cx="39776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0328" y="30175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2008–2015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32918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UX/UI Designer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0328" y="3639312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Binarum, uTrader, systemforex, Marks · сайти, банери, лендінги · верстка, Flash/Animate анімації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Навички та інструменти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FEBDD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1234440"/>
            <a:ext cx="457200" cy="457200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52" y="1297004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527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4088" y="1828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· Photoshop · Illustrator · InDesign · Corel · PowerPoint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05156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FEBDD"/>
          </a:solidFill>
          <a:ln/>
        </p:spPr>
      </p:sp>
      <p:sp>
        <p:nvSpPr>
          <p:cNvPr id="9" name="Shape 6"/>
          <p:cNvSpPr/>
          <p:nvPr/>
        </p:nvSpPr>
        <p:spPr>
          <a:xfrm>
            <a:off x="3538728" y="1234440"/>
            <a:ext cx="457200" cy="457200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292" y="129700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2527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Інфографіка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38728" y="1828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Візуалізація даних · дашборди · схеми · карти мереж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72200" y="105156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FEBDD"/>
          </a:solidFill>
          <a:ln/>
        </p:spPr>
      </p:sp>
      <p:sp>
        <p:nvSpPr>
          <p:cNvPr id="14" name="Shape 10"/>
          <p:cNvSpPr/>
          <p:nvPr/>
        </p:nvSpPr>
        <p:spPr>
          <a:xfrm>
            <a:off x="6373368" y="1234440"/>
            <a:ext cx="457200" cy="457200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932" y="1297004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12527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 / Анімація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73368" y="1828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Pro · Animate · After Effects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29260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FEBDD"/>
          </a:solidFill>
          <a:ln/>
        </p:spPr>
      </p:sp>
      <p:sp>
        <p:nvSpPr>
          <p:cNvPr id="19" name="Shape 14"/>
          <p:cNvSpPr/>
          <p:nvPr/>
        </p:nvSpPr>
        <p:spPr>
          <a:xfrm>
            <a:off x="704088" y="3108960"/>
            <a:ext cx="457200" cy="457200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52" y="3171524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127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Системи ЗСУ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04088" y="3703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· </a:t>
            </a:r>
            <a:r>
              <a:rPr lang="uk-UA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ІКС </a:t>
            </a: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· </a:t>
            </a:r>
            <a:r>
              <a:rPr lang="uk-UA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СПЗ</a:t>
            </a: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ВI</a:t>
            </a:r>
            <a:r>
              <a:rPr lang="uk-UA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AЖ · ЗАТК Слід/Тест · MDM · MS 365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337560" y="29260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FEBDD"/>
          </a:solidFill>
          <a:ln/>
        </p:spPr>
      </p:sp>
      <p:sp>
        <p:nvSpPr>
          <p:cNvPr id="24" name="Shape 18"/>
          <p:cNvSpPr/>
          <p:nvPr/>
        </p:nvSpPr>
        <p:spPr>
          <a:xfrm>
            <a:off x="3538728" y="3108960"/>
            <a:ext cx="457200" cy="457200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1292" y="3171524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14800" y="3127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538728" y="3703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базовий JavaScript · Git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72200" y="29260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FEBDD"/>
          </a:solidFill>
          <a:ln/>
        </p:spPr>
      </p:sp>
      <p:sp>
        <p:nvSpPr>
          <p:cNvPr id="29" name="Shape 22"/>
          <p:cNvSpPr/>
          <p:nvPr/>
        </p:nvSpPr>
        <p:spPr>
          <a:xfrm>
            <a:off x="6373368" y="3108960"/>
            <a:ext cx="457200" cy="457200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932" y="3171524"/>
            <a:ext cx="338328" cy="33832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49440" y="3127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AI-інструменти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6373368" y="3703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ChatGPT · Grok — 4 роки активного використання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Сертифікати — 21 курс (2026)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21208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70432"/>
            <a:ext cx="457200" cy="457200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84" y="123299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188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Військові курси — 15 сертифікатів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Цифрові системи ЗСУ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97480" y="1828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· СЕДО · DOT-Chain · Цифрова трансформація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23957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Зв'язок та РЕБ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697480" y="239572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зв'язку на полі бою · Основи РЕБ · ГРАФІТ (БпЛА)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96265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Кібербезпека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697480" y="296265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Кібергігієна 2.0 · Кібербезпека · Протидія ІПСО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352958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Новітні технології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697480" y="352958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Дрони на оптоволокні · Наземні роботизовані комплекси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40965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Загальновійськові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97480" y="40965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Тактична медицина · Психологічна підготовка · Фінансова грамотність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97880" y="960120"/>
            <a:ext cx="2743200" cy="3794760"/>
          </a:xfrm>
          <a:prstGeom prst="roundRect">
            <a:avLst>
              <a:gd name="adj" fmla="val 2000"/>
            </a:avLst>
          </a:prstGeom>
          <a:solidFill>
            <a:srgbClr val="3E463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08192" y="1170432"/>
            <a:ext cx="457200" cy="457200"/>
          </a:xfrm>
          <a:prstGeom prst="ellipse">
            <a:avLst/>
          </a:prstGeom>
          <a:solidFill>
            <a:srgbClr val="2E3429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756" y="1232996"/>
            <a:ext cx="338328" cy="33832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7512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ОСВІТА Дія — 6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144768" y="1892808"/>
            <a:ext cx="82296" cy="82296"/>
          </a:xfrm>
          <a:prstGeom prst="ellipse">
            <a:avLst/>
          </a:prstGeom>
          <a:solidFill>
            <a:srgbClr val="B08D3A"/>
          </a:solidFill>
          <a:ln/>
        </p:spPr>
      </p:sp>
      <p:sp>
        <p:nvSpPr>
          <p:cNvPr id="22" name="Text 18"/>
          <p:cNvSpPr/>
          <p:nvPr/>
        </p:nvSpPr>
        <p:spPr>
          <a:xfrm>
            <a:off x="635508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Датааналітик: Вступ до Excel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144768" y="2368296"/>
            <a:ext cx="82296" cy="82296"/>
          </a:xfrm>
          <a:prstGeom prst="ellipse">
            <a:avLst/>
          </a:prstGeom>
          <a:solidFill>
            <a:srgbClr val="B08D3A"/>
          </a:solidFill>
          <a:ln/>
        </p:spPr>
      </p:sp>
      <p:sp>
        <p:nvSpPr>
          <p:cNvPr id="24" name="Text 20"/>
          <p:cNvSpPr/>
          <p:nvPr/>
        </p:nvSpPr>
        <p:spPr>
          <a:xfrm>
            <a:off x="6355080" y="22585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Датааналітик: SQL та Power BI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144768" y="2843784"/>
            <a:ext cx="82296" cy="82296"/>
          </a:xfrm>
          <a:prstGeom prst="ellipse">
            <a:avLst/>
          </a:prstGeom>
          <a:solidFill>
            <a:srgbClr val="B08D3A"/>
          </a:solidFill>
          <a:ln/>
        </p:spPr>
      </p:sp>
      <p:sp>
        <p:nvSpPr>
          <p:cNvPr id="26" name="Text 22"/>
          <p:cNvSpPr/>
          <p:nvPr/>
        </p:nvSpPr>
        <p:spPr>
          <a:xfrm>
            <a:off x="6355080" y="27340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Штучний інтелект (ШІ)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144768" y="3319272"/>
            <a:ext cx="82296" cy="82296"/>
          </a:xfrm>
          <a:prstGeom prst="ellipse">
            <a:avLst/>
          </a:prstGeom>
          <a:solidFill>
            <a:srgbClr val="B08D3A"/>
          </a:solidFill>
          <a:ln/>
        </p:spPr>
      </p:sp>
      <p:sp>
        <p:nvSpPr>
          <p:cNvPr id="28" name="Text 24"/>
          <p:cNvSpPr/>
          <p:nvPr/>
        </p:nvSpPr>
        <p:spPr>
          <a:xfrm>
            <a:off x="6355080" y="32095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Інженер із комп'ютерних систем і мереж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144768" y="3794760"/>
            <a:ext cx="82296" cy="82296"/>
          </a:xfrm>
          <a:prstGeom prst="ellipse">
            <a:avLst/>
          </a:prstGeom>
          <a:solidFill>
            <a:srgbClr val="B08D3A"/>
          </a:solidFill>
          <a:ln/>
        </p:spPr>
      </p:sp>
      <p:sp>
        <p:nvSpPr>
          <p:cNvPr id="30" name="Text 26"/>
          <p:cNvSpPr/>
          <p:nvPr/>
        </p:nvSpPr>
        <p:spPr>
          <a:xfrm>
            <a:off x="6355080" y="36850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та розвиток ІТ-продуктів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144768" y="4270248"/>
            <a:ext cx="82296" cy="82296"/>
          </a:xfrm>
          <a:prstGeom prst="ellipse">
            <a:avLst/>
          </a:prstGeom>
          <a:solidFill>
            <a:srgbClr val="B08D3A"/>
          </a:solidFill>
          <a:ln/>
        </p:spPr>
      </p:sp>
      <p:sp>
        <p:nvSpPr>
          <p:cNvPr id="32" name="Text 28"/>
          <p:cNvSpPr/>
          <p:nvPr/>
        </p:nvSpPr>
        <p:spPr>
          <a:xfrm>
            <a:off x="6355080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Цифровий бізнес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Освіта та мови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EFEBDD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234440"/>
            <a:ext cx="512064" cy="512064"/>
          </a:xfrm>
          <a:prstGeom prst="ellipse">
            <a:avLst/>
          </a:prstGeom>
          <a:solidFill>
            <a:srgbClr val="3E463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80" y="1304512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435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КПІ ім. Ігоря Сікорського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17320" y="15910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Фізико-технічний інститут · 2004–2011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Прикладна фізика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5603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Спеціаліст — диплом КВ39983760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0896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03580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Бакалавр — диплом КВ37367864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8444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51129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 робота: магнієво-вуглецеві та воднево-вуглецеві нанокомпозити, механохімічний синтез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59936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398678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4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Аналітичне мислення, робота з великими масивами даних, точність і структурованість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5852160" y="1005840"/>
            <a:ext cx="2788920" cy="3566160"/>
          </a:xfrm>
          <a:prstGeom prst="roundRect">
            <a:avLst>
              <a:gd name="adj" fmla="val 1967"/>
            </a:avLst>
          </a:prstGeom>
          <a:solidFill>
            <a:srgbClr val="3E4637"/>
          </a:solidFill>
          <a:ln/>
        </p:spPr>
      </p:sp>
      <p:sp>
        <p:nvSpPr>
          <p:cNvPr id="18" name="Shape 11"/>
          <p:cNvSpPr/>
          <p:nvPr/>
        </p:nvSpPr>
        <p:spPr>
          <a:xfrm>
            <a:off x="6089904" y="1234440"/>
            <a:ext cx="512064" cy="512064"/>
          </a:xfrm>
          <a:prstGeom prst="ellipse">
            <a:avLst/>
          </a:prstGeom>
          <a:solidFill>
            <a:srgbClr val="2E3429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976" y="1304512"/>
            <a:ext cx="378927" cy="37892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66560" y="12984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Мови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6126480" y="2057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Українська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12648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Рідна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6126480" y="2880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Англійська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126480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Вище середнього — технічна документація, базове спілкування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612648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8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Руська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126480" y="3977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Рідна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3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я — для МОУ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9786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1430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Чинний військовослужбовець ЗСУ, в/ч А5118 — відповідаю умовам переведення у вакансії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6479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70992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років дизайну + інженерна освіта КПІ + досвід систем оборонного сектору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27685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Наказ ГШ ЗСУ №40 — військове діловодство, оформлення службових документів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98648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284378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Наказ ГК ЗСУ №140 — оперативні (бойові) документи, знаки НАТО: Delta та друковані карти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41071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 навчаюся, ініціативний, працюю в умовах стислих дедлайнів</a:t>
            </a:r>
            <a:endParaRPr lang="en-US" sz="1450" dirty="0"/>
          </a:p>
        </p:txBody>
      </p:sp>
      <p:sp>
        <p:nvSpPr>
          <p:cNvPr id="13" name="Shape 6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12700">
            <a:solidFill>
              <a:srgbClr val="B08D3A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Коломієць Роман   </a:t>
            </a:r>
            <a:r>
              <a:rPr lang="en-US" sz="1200" dirty="0">
                <a:solidFill>
                  <a:srgbClr val="C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098 707-74-67   ·   romankolomiets@gmail.com ·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R.Kolomiiets01@mil.ua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>
                <a:solidFill>
                  <a:srgbClr val="C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Київ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9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створено виключно для МОУ · вакансія Дизайнер / Дата-аналітик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748</Words>
  <Application>Microsoft Office PowerPoint</Application>
  <PresentationFormat>Экран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Резюме — Коломієць Роман</dc:title>
  <dc:subject>PptxGenJS Presentation</dc:subject>
  <dc:creator>Роман Коломієць</dc:creator>
  <cp:lastModifiedBy>Roman</cp:lastModifiedBy>
  <cp:revision>4</cp:revision>
  <dcterms:created xsi:type="dcterms:W3CDTF">2026-07-08T05:09:44Z</dcterms:created>
  <dcterms:modified xsi:type="dcterms:W3CDTF">2026-07-08T05:39:51Z</dcterms:modified>
</cp:coreProperties>
</file>